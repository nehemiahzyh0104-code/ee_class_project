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2"/>
  </p:handoutMasterIdLst>
  <p:sldIdLst>
    <p:sldId id="717" r:id="rId3"/>
    <p:sldId id="718" r:id="rId5"/>
    <p:sldId id="719" r:id="rId6"/>
    <p:sldId id="720" r:id="rId7"/>
    <p:sldId id="723" r:id="rId8"/>
    <p:sldId id="721" r:id="rId9"/>
    <p:sldId id="798" r:id="rId10"/>
    <p:sldId id="799" r:id="rId11"/>
  </p:sldIdLst>
  <p:sldSz cx="9144000" cy="5143500" type="screen16x9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203864"/>
    <a:srgbClr val="ED7D31"/>
    <a:srgbClr val="941F23"/>
    <a:srgbClr val="C00000"/>
    <a:srgbClr val="385723"/>
    <a:srgbClr val="BFBFBF"/>
    <a:srgbClr val="F2F1F7"/>
    <a:srgbClr val="CBC1DC"/>
    <a:srgbClr val="F1F1F1"/>
    <a:srgbClr val="465CB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68" autoAdjust="0"/>
    <p:restoredTop sz="91466" autoAdjust="0"/>
  </p:normalViewPr>
  <p:slideViewPr>
    <p:cSldViewPr showGuides="1">
      <p:cViewPr varScale="1">
        <p:scale>
          <a:sx n="95" d="100"/>
          <a:sy n="95" d="100"/>
        </p:scale>
        <p:origin x="-876" y="-90"/>
      </p:cViewPr>
      <p:guideLst>
        <p:guide orient="horz" pos="1627"/>
        <p:guide pos="2880"/>
      </p:guideLst>
    </p:cSldViewPr>
  </p:slideViewPr>
  <p:outlineViewPr>
    <p:cViewPr>
      <p:scale>
        <a:sx n="33" d="100"/>
        <a:sy n="33" d="100"/>
      </p:scale>
      <p:origin x="0" y="2208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5" d="100"/>
          <a:sy n="55" d="100"/>
        </p:scale>
        <p:origin x="288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9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2F8FB0-7716-43A8-8A86-F268943C322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14453F-754D-47F9-AA35-EB9C5B40395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673B58EF-4ABD-40F4-ACA4-FE81D742E6DD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微软雅黑" panose="020B0503020204020204" pitchFamily="34" charset="-122"/>
              </a:defRPr>
            </a:lvl1pPr>
          </a:lstStyle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1FC198-2D83-4DFC-8CDD-7D23AF44D411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3BE3-B967-4CAF-86E4-C886371B953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0EE14C-485C-475A-A4AC-09D751B2B723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-20279" y="0"/>
            <a:ext cx="2806576" cy="570756"/>
          </a:xfrm>
          <a:prstGeom prst="homePlate">
            <a:avLst/>
          </a:prstGeom>
          <a:solidFill>
            <a:srgbClr val="002060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51520" y="38950"/>
            <a:ext cx="662266" cy="568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55776" y="561876"/>
            <a:ext cx="594015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868912" y="195486"/>
            <a:ext cx="6167583" cy="432842"/>
          </a:xfrm>
        </p:spPr>
        <p:txBody>
          <a:bodyPr>
            <a:noAutofit/>
          </a:bodyPr>
          <a:lstStyle>
            <a:lvl1pPr>
              <a:defRPr sz="1800" b="1">
                <a:solidFill>
                  <a:srgbClr val="941F2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1" hasCustomPrompt="1"/>
          </p:nvPr>
        </p:nvSpPr>
        <p:spPr>
          <a:xfrm>
            <a:off x="913787" y="57834"/>
            <a:ext cx="1786006" cy="504042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4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-20279" y="0"/>
            <a:ext cx="2806576" cy="570756"/>
          </a:xfrm>
          <a:prstGeom prst="homePlate">
            <a:avLst/>
          </a:prstGeom>
          <a:solidFill>
            <a:srgbClr val="941F2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26751"/>
            <a:ext cx="4032448" cy="568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55776" y="561876"/>
            <a:ext cx="594015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868912" y="195486"/>
            <a:ext cx="6167583" cy="432842"/>
          </a:xfrm>
        </p:spPr>
        <p:txBody>
          <a:bodyPr>
            <a:noAutofit/>
          </a:bodyPr>
          <a:lstStyle>
            <a:lvl1pPr>
              <a:defRPr sz="1800" b="1">
                <a:solidFill>
                  <a:srgbClr val="941F2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五边形 3"/>
          <p:cNvSpPr/>
          <p:nvPr userDrawn="1"/>
        </p:nvSpPr>
        <p:spPr>
          <a:xfrm>
            <a:off x="-20280" y="0"/>
            <a:ext cx="4592279" cy="570756"/>
          </a:xfrm>
          <a:prstGeom prst="homePlate">
            <a:avLst/>
          </a:prstGeom>
          <a:solidFill>
            <a:srgbClr val="941F2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27584" y="26751"/>
            <a:ext cx="4032448" cy="56892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buFont typeface="+mj-lt"/>
              <a:buNone/>
              <a:defRPr sz="24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2555776" y="561876"/>
            <a:ext cx="5940152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2868912" y="195486"/>
            <a:ext cx="6167583" cy="432842"/>
          </a:xfrm>
        </p:spPr>
        <p:txBody>
          <a:bodyPr>
            <a:noAutofit/>
          </a:bodyPr>
          <a:lstStyle>
            <a:lvl1pPr>
              <a:defRPr sz="1800" b="1">
                <a:solidFill>
                  <a:srgbClr val="941F23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flip="none" rotWithShape="1">
          <a:gsLst>
            <a:gs pos="26000">
              <a:srgbClr val="EBECF0"/>
            </a:gs>
            <a:gs pos="0">
              <a:srgbClr val="D7D9E1"/>
            </a:gs>
            <a:gs pos="100000">
              <a:schemeClr val="bg1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直接连接符 2"/>
          <p:cNvCxnSpPr/>
          <p:nvPr userDrawn="1"/>
        </p:nvCxnSpPr>
        <p:spPr>
          <a:xfrm>
            <a:off x="515259" y="624118"/>
            <a:ext cx="3192647" cy="5237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连接符 4"/>
          <p:cNvCxnSpPr/>
          <p:nvPr userDrawn="1"/>
        </p:nvCxnSpPr>
        <p:spPr>
          <a:xfrm>
            <a:off x="5436099" y="629351"/>
            <a:ext cx="3264655" cy="0"/>
          </a:xfrm>
          <a:prstGeom prst="line">
            <a:avLst/>
          </a:prstGeom>
          <a:ln w="12700">
            <a:solidFill>
              <a:srgbClr val="C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rgbClr val="C00000"/>
                </a:solidFill>
                <a:latin typeface="微软雅黑" panose="020B0503020204020204" pitchFamily="34" charset="-122"/>
                <a:cs typeface="微软雅黑" panose="020B0503020204020204" pitchFamily="34" charset="-122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285708" y="1036987"/>
            <a:ext cx="3593306" cy="290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9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025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3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29" y="750725"/>
            <a:ext cx="688491" cy="474093"/>
          </a:xfrm>
        </p:spPr>
        <p:txBody>
          <a:bodyPr>
            <a:noAutofit/>
          </a:bodyPr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2571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514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7152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858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5436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8008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C718-4EAF-405E-AE53-3E094839F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10"/>
          <p:cNvSpPr/>
          <p:nvPr userDrawn="1"/>
        </p:nvSpPr>
        <p:spPr>
          <a:xfrm>
            <a:off x="114302" y="314662"/>
            <a:ext cx="151950" cy="1532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8" name="矩形 11"/>
          <p:cNvSpPr/>
          <p:nvPr userDrawn="1"/>
        </p:nvSpPr>
        <p:spPr>
          <a:xfrm>
            <a:off x="114302" y="131186"/>
            <a:ext cx="151950" cy="1532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9" name="矩形 12"/>
          <p:cNvSpPr/>
          <p:nvPr userDrawn="1"/>
        </p:nvSpPr>
        <p:spPr>
          <a:xfrm>
            <a:off x="18829" y="222923"/>
            <a:ext cx="151950" cy="1532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7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C718-4EAF-405E-AE53-3E094839F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10"/>
          <p:cNvSpPr/>
          <p:nvPr userDrawn="1"/>
        </p:nvSpPr>
        <p:spPr>
          <a:xfrm>
            <a:off x="114302" y="314662"/>
            <a:ext cx="151950" cy="1532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8" name="矩形 11"/>
          <p:cNvSpPr/>
          <p:nvPr userDrawn="1"/>
        </p:nvSpPr>
        <p:spPr>
          <a:xfrm>
            <a:off x="114302" y="131186"/>
            <a:ext cx="151950" cy="1532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9" name="矩形 12"/>
          <p:cNvSpPr/>
          <p:nvPr userDrawn="1"/>
        </p:nvSpPr>
        <p:spPr>
          <a:xfrm>
            <a:off x="18829" y="222923"/>
            <a:ext cx="151950" cy="1532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58C718-4EAF-405E-AE53-3E094839F3B7}" type="datetime1">
              <a:rPr lang="zh-CN" altLang="en-US" smtClean="0">
                <a:solidFill>
                  <a:prstClr val="black">
                    <a:tint val="75000"/>
                  </a:prstClr>
                </a:solidFill>
              </a:rPr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>
                <a:solidFill>
                  <a:prstClr val="black">
                    <a:tint val="75000"/>
                  </a:prstClr>
                </a:solidFill>
              </a:rPr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矩形 10"/>
          <p:cNvSpPr/>
          <p:nvPr userDrawn="1"/>
        </p:nvSpPr>
        <p:spPr>
          <a:xfrm>
            <a:off x="114302" y="314662"/>
            <a:ext cx="151950" cy="153297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8" name="矩形 11"/>
          <p:cNvSpPr/>
          <p:nvPr userDrawn="1"/>
        </p:nvSpPr>
        <p:spPr>
          <a:xfrm>
            <a:off x="114302" y="131186"/>
            <a:ext cx="151950" cy="15329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  <p:sp>
        <p:nvSpPr>
          <p:cNvPr id="9" name="矩形 12"/>
          <p:cNvSpPr/>
          <p:nvPr userDrawn="1"/>
        </p:nvSpPr>
        <p:spPr>
          <a:xfrm>
            <a:off x="18829" y="222923"/>
            <a:ext cx="151950" cy="1532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342900"/>
            <a:endParaRPr lang="zh-CN" altLang="en-US" sz="1800">
              <a:solidFill>
                <a:prstClr val="white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98497" y="710136"/>
            <a:ext cx="7288317" cy="514679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700">
                <a:solidFill>
                  <a:srgbClr val="092E85"/>
                </a:solidFill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1" y="1404121"/>
            <a:ext cx="8229612" cy="3191312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二级</a:t>
            </a:r>
            <a:endParaRPr lang="zh-CN" altLang="en-US" noProof="1"/>
          </a:p>
          <a:p>
            <a:pPr lvl="2"/>
            <a:r>
              <a:rPr lang="zh-CN" altLang="en-US" noProof="1"/>
              <a:t>三级</a:t>
            </a:r>
            <a:endParaRPr lang="zh-CN" altLang="en-US" noProof="1"/>
          </a:p>
          <a:p>
            <a:pPr lvl="3"/>
            <a:r>
              <a:rPr lang="zh-CN" altLang="en-US" noProof="1"/>
              <a:t>四级</a:t>
            </a:r>
            <a:endParaRPr lang="zh-CN" altLang="en-US" noProof="1"/>
          </a:p>
          <a:p>
            <a:pPr lvl="4"/>
            <a:r>
              <a:rPr lang="zh-CN" altLang="en-US" noProof="1"/>
              <a:t>五级</a:t>
            </a:r>
            <a:endParaRPr lang="zh-CN" altLang="en-US" noProof="1"/>
          </a:p>
        </p:txBody>
      </p:sp>
      <p:sp>
        <p:nvSpPr>
          <p:cNvPr id="7" name="副标题 2"/>
          <p:cNvSpPr>
            <a:spLocks noGrp="1"/>
          </p:cNvSpPr>
          <p:nvPr>
            <p:ph type="subTitle" idx="13"/>
          </p:nvPr>
        </p:nvSpPr>
        <p:spPr>
          <a:xfrm>
            <a:off x="602430" y="750722"/>
            <a:ext cx="688490" cy="474093"/>
          </a:xfrm>
        </p:spPr>
        <p:txBody>
          <a:bodyPr>
            <a:noAutofit/>
          </a:bodyPr>
          <a:lstStyle>
            <a:lvl1pPr marL="0" indent="0" algn="r">
              <a:buNone/>
              <a:defRPr sz="2400" b="1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80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9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8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endParaRPr lang="zh-CN" altLang="en-US" noProof="1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78CB08-916B-4955-ACEA-C66934A39553}" type="datetimeFigureOut">
              <a:rPr lang="zh-TW" altLang="en-US"/>
            </a:fld>
            <a:endParaRPr lang="zh-TW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幻灯片编号占位符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CBC582-6996-4662-91A5-25C0E6297F45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6" Type="http://schemas.openxmlformats.org/officeDocument/2006/relationships/theme" Target="../theme/theme1.xml"/><Relationship Id="rId35" Type="http://schemas.openxmlformats.org/officeDocument/2006/relationships/image" Target="../media/image1.jpeg"/><Relationship Id="rId34" Type="http://schemas.openxmlformats.org/officeDocument/2006/relationships/slideLayout" Target="../slideLayouts/slideLayout34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pic>
        <p:nvPicPr>
          <p:cNvPr id="7" name="Picture 4"/>
          <p:cNvPicPr>
            <a:picLocks noChangeAspect="1" noChangeArrowheads="1"/>
          </p:cNvPicPr>
          <p:nvPr/>
        </p:nvPicPr>
        <p:blipFill>
          <a:blip r:embed="rId3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-19844" y="2723"/>
            <a:ext cx="9144000" cy="5140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</p:sldLayoutIdLst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microsoft.com/office/2007/relationships/hdphoto" Target="../media/image4.wdp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jpeg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image" Target="../media/image7.jpeg"/><Relationship Id="rId4" Type="http://schemas.openxmlformats.org/officeDocument/2006/relationships/tags" Target="../tags/tag2.xml"/><Relationship Id="rId3" Type="http://schemas.openxmlformats.org/officeDocument/2006/relationships/tags" Target="../tags/tag1.xml"/><Relationship Id="rId21" Type="http://schemas.openxmlformats.org/officeDocument/2006/relationships/notesSlide" Target="../notesSlides/notesSlide2.xml"/><Relationship Id="rId20" Type="http://schemas.openxmlformats.org/officeDocument/2006/relationships/slideLayout" Target="../slideLayouts/slideLayout7.xml"/><Relationship Id="rId2" Type="http://schemas.openxmlformats.org/officeDocument/2006/relationships/image" Target="../media/image6.jpeg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tags" Target="../tags/tag10.xml"/><Relationship Id="rId13" Type="http://schemas.openxmlformats.org/officeDocument/2006/relationships/tags" Target="../tags/tag9.xml"/><Relationship Id="rId12" Type="http://schemas.openxmlformats.org/officeDocument/2006/relationships/tags" Target="../tags/tag8.xml"/><Relationship Id="rId11" Type="http://schemas.openxmlformats.org/officeDocument/2006/relationships/tags" Target="../tags/tag7.xml"/><Relationship Id="rId10" Type="http://schemas.openxmlformats.org/officeDocument/2006/relationships/tags" Target="../tags/tag6.xml"/><Relationship Id="rId1" Type="http://schemas.openxmlformats.org/officeDocument/2006/relationships/image" Target="../media/image5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6.png"/><Relationship Id="rId3" Type="http://schemas.openxmlformats.org/officeDocument/2006/relationships/tags" Target="../tags/tag17.xml"/><Relationship Id="rId2" Type="http://schemas.openxmlformats.org/officeDocument/2006/relationships/image" Target="../media/image15.png"/><Relationship Id="rId1" Type="http://schemas.openxmlformats.org/officeDocument/2006/relationships/tags" Target="../tags/tag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/>
        </p:nvPicPr>
        <p:blipFill rotWithShape="1"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875" t="5097" r="21875" b="5097"/>
          <a:stretch>
            <a:fillRect/>
          </a:stretch>
        </p:blipFill>
        <p:spPr>
          <a:xfrm>
            <a:off x="5091589" y="518925"/>
            <a:ext cx="3600000" cy="3600000"/>
          </a:xfrm>
          <a:prstGeom prst="flowChartConnector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423" y="518925"/>
            <a:ext cx="3609473" cy="3600000"/>
          </a:xfrm>
          <a:prstGeom prst="rect">
            <a:avLst/>
          </a:prstGeom>
        </p:spPr>
      </p:pic>
      <p:cxnSp>
        <p:nvCxnSpPr>
          <p:cNvPr id="11" name="直接连接符 10"/>
          <p:cNvCxnSpPr/>
          <p:nvPr/>
        </p:nvCxnSpPr>
        <p:spPr>
          <a:xfrm>
            <a:off x="251520" y="2406828"/>
            <a:ext cx="5169917" cy="0"/>
          </a:xfrm>
          <a:prstGeom prst="line">
            <a:avLst/>
          </a:prstGeom>
          <a:ln w="1270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76649" y="1053192"/>
            <a:ext cx="5186680" cy="1383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en-US" altLang="zh-CN" sz="3600" b="1" spc="225" dirty="0" smtClean="0">
                <a:solidFill>
                  <a:srgbClr val="203864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Based on Arduino Uno</a:t>
            </a:r>
            <a:endParaRPr lang="en-US" altLang="zh-CN" sz="3600" b="1" spc="225" dirty="0" smtClean="0">
              <a:solidFill>
                <a:srgbClr val="203864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  <a:p>
            <a:pPr algn="just">
              <a:defRPr/>
            </a:pPr>
            <a:r>
              <a:rPr lang="en-US" altLang="zh-CN" sz="4800" b="1" spc="225" dirty="0" smtClean="0">
                <a:solidFill>
                  <a:srgbClr val="C00000"/>
                </a:solidFill>
                <a:latin typeface="Times New Roman" panose="02020603050405020304" pitchFamily="18" charset="0"/>
                <a:ea typeface="华文行楷" panose="02010800040101010101" pitchFamily="2" charset="-122"/>
                <a:cs typeface="Times New Roman" panose="02020603050405020304" pitchFamily="18" charset="0"/>
                <a:sym typeface="微软雅黑" panose="020B0503020204020204" pitchFamily="34" charset="-122"/>
              </a:rPr>
              <a:t>                  IOT</a:t>
            </a:r>
            <a:endParaRPr lang="en-US" altLang="zh-CN" sz="4800" b="1" spc="225" dirty="0" smtClean="0">
              <a:solidFill>
                <a:srgbClr val="C00000"/>
              </a:solidFill>
              <a:latin typeface="Times New Roman" panose="02020603050405020304" pitchFamily="18" charset="0"/>
              <a:ea typeface="华文行楷" panose="02010800040101010101" pitchFamily="2" charset="-122"/>
              <a:cs typeface="Times New Roman" panose="02020603050405020304" pitchFamily="18" charset="0"/>
              <a:sym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3419872" y="2859782"/>
            <a:ext cx="137088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>
              <a:defRPr/>
            </a:pPr>
            <a:r>
              <a:rPr lang="zh-CN" altLang="en-US" sz="4400" b="1" spc="225" dirty="0" smtClean="0">
                <a:solidFill>
                  <a:srgbClr val="C00000"/>
                </a:solidFill>
                <a:latin typeface="华文行楷" panose="02010800040101010101" pitchFamily="2" charset="-122"/>
                <a:ea typeface="华文行楷" panose="02010800040101010101" pitchFamily="2" charset="-122"/>
                <a:sym typeface="微软雅黑" panose="020B0503020204020204" pitchFamily="34" charset="-122"/>
              </a:rPr>
              <a:t>刘闯</a:t>
            </a:r>
            <a:endParaRPr lang="zh-CN" altLang="en-US" sz="4400" b="1" spc="225" dirty="0">
              <a:solidFill>
                <a:srgbClr val="C00000"/>
              </a:solidFill>
              <a:latin typeface="华文行楷" panose="02010800040101010101" pitchFamily="2" charset="-122"/>
              <a:ea typeface="华文行楷" panose="02010800040101010101" pitchFamily="2" charset="-122"/>
              <a:sym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组合 25"/>
          <p:cNvGrpSpPr/>
          <p:nvPr/>
        </p:nvGrpSpPr>
        <p:grpSpPr>
          <a:xfrm>
            <a:off x="755576" y="1304030"/>
            <a:ext cx="1995595" cy="1995595"/>
            <a:chOff x="1155414" y="2081105"/>
            <a:chExt cx="1623292" cy="1623292"/>
          </a:xfrm>
        </p:grpSpPr>
        <p:sp>
          <p:nvSpPr>
            <p:cNvPr id="27" name="椭圆 26"/>
            <p:cNvSpPr/>
            <p:nvPr/>
          </p:nvSpPr>
          <p:spPr>
            <a:xfrm>
              <a:off x="1155414" y="2081105"/>
              <a:ext cx="1623292" cy="1623292"/>
            </a:xfrm>
            <a:prstGeom prst="ellipse">
              <a:avLst/>
            </a:prstGeom>
            <a:blipFill>
              <a:blip r:embed="rId1" cstate="screen"/>
              <a:stretch>
                <a:fillRect/>
              </a:stretch>
            </a:blipFill>
            <a:ln>
              <a:noFill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prstClr val="white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28" name="椭圆 27"/>
            <p:cNvSpPr/>
            <p:nvPr/>
          </p:nvSpPr>
          <p:spPr>
            <a:xfrm>
              <a:off x="1243307" y="2168998"/>
              <a:ext cx="1447505" cy="1447505"/>
            </a:xfrm>
            <a:prstGeom prst="ellipse">
              <a:avLst/>
            </a:prstGeom>
            <a:blipFill>
              <a:blip r:embed="rId2" cstate="screen"/>
              <a:stretch>
                <a:fillRect/>
              </a:stretch>
            </a:blipFill>
            <a:ln w="38100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zh-CN" altLang="en-US" sz="1500">
                <a:solidFill>
                  <a:prstClr val="white"/>
                </a:solidFill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</p:grpSp>
      <p:sp>
        <p:nvSpPr>
          <p:cNvPr id="29" name="文本框 4"/>
          <p:cNvSpPr txBox="1"/>
          <p:nvPr/>
        </p:nvSpPr>
        <p:spPr>
          <a:xfrm>
            <a:off x="890905" y="1947545"/>
            <a:ext cx="182435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 smtClean="0">
                <a:solidFill>
                  <a:schemeClr val="bg1"/>
                </a:solidFill>
                <a:latin typeface="Times New Roman" panose="02020603050405020304" pitchFamily="18" charset="0"/>
                <a:ea typeface="华康俪金黑W8(P)" panose="020B0800000000000000" pitchFamily="34" charset="-122"/>
                <a:cs typeface="Times New Roman" panose="02020603050405020304" pitchFamily="18" charset="0"/>
              </a:rPr>
              <a:t>catalogue</a:t>
            </a:r>
            <a:endParaRPr lang="zh-CN" altLang="en-US" sz="3200" dirty="0" smtClean="0">
              <a:solidFill>
                <a:schemeClr val="bg1"/>
              </a:solidFill>
              <a:latin typeface="Times New Roman" panose="02020603050405020304" pitchFamily="18" charset="0"/>
              <a:ea typeface="华康俪金黑W8(P)" panose="020B0800000000000000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" name="组合 4"/>
          <p:cNvGrpSpPr/>
          <p:nvPr>
            <p:custDataLst>
              <p:tags r:id="rId3"/>
            </p:custDataLst>
          </p:nvPr>
        </p:nvGrpSpPr>
        <p:grpSpPr>
          <a:xfrm>
            <a:off x="3203848" y="123478"/>
            <a:ext cx="4860000" cy="792000"/>
            <a:chOff x="3118250" y="461875"/>
            <a:chExt cx="4860000" cy="792000"/>
          </a:xfrm>
        </p:grpSpPr>
        <p:sp>
          <p:nvSpPr>
            <p:cNvPr id="32" name="圆角矩形 31"/>
            <p:cNvSpPr/>
            <p:nvPr>
              <p:custDataLst>
                <p:tags r:id="rId4"/>
              </p:custDataLst>
            </p:nvPr>
          </p:nvSpPr>
          <p:spPr>
            <a:xfrm>
              <a:off x="3118250" y="461875"/>
              <a:ext cx="4860000" cy="792000"/>
            </a:xfrm>
            <a:prstGeom prst="roundRect">
              <a:avLst>
                <a:gd name="adj" fmla="val 50000"/>
              </a:avLst>
            </a:prstGeom>
            <a:blipFill>
              <a:blip r:embed="rId5" cstate="screen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7" name="TextBox 16"/>
            <p:cNvSpPr txBox="1"/>
            <p:nvPr>
              <p:custDataLst>
                <p:tags r:id="rId6"/>
              </p:custDataLst>
            </p:nvPr>
          </p:nvSpPr>
          <p:spPr>
            <a:xfrm>
              <a:off x="3580339" y="565488"/>
              <a:ext cx="3714094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 Arduino Uno</a:t>
              </a:r>
              <a:endPara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>
            <p:custDataLst>
              <p:tags r:id="rId7"/>
            </p:custDataLst>
          </p:nvPr>
        </p:nvGrpSpPr>
        <p:grpSpPr>
          <a:xfrm>
            <a:off x="3203848" y="1155563"/>
            <a:ext cx="4860000" cy="792000"/>
            <a:chOff x="3118250" y="1736094"/>
            <a:chExt cx="4860000" cy="792000"/>
          </a:xfrm>
        </p:grpSpPr>
        <p:sp>
          <p:nvSpPr>
            <p:cNvPr id="34" name="圆角矩形 33"/>
            <p:cNvSpPr/>
            <p:nvPr>
              <p:custDataLst>
                <p:tags r:id="rId8"/>
              </p:custDataLst>
            </p:nvPr>
          </p:nvSpPr>
          <p:spPr>
            <a:xfrm>
              <a:off x="3118250" y="1736094"/>
              <a:ext cx="4860000" cy="792000"/>
            </a:xfrm>
            <a:prstGeom prst="roundRect">
              <a:avLst>
                <a:gd name="adj" fmla="val 50000"/>
              </a:avLst>
            </a:prstGeom>
            <a:blipFill>
              <a:blip r:embed="rId9" cstate="screen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11" name="TextBox 16"/>
            <p:cNvSpPr txBox="1"/>
            <p:nvPr>
              <p:custDataLst>
                <p:tags r:id="rId10"/>
              </p:custDataLst>
            </p:nvPr>
          </p:nvSpPr>
          <p:spPr>
            <a:xfrm>
              <a:off x="3580339" y="1839707"/>
              <a:ext cx="224472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2 Sensor</a:t>
              </a:r>
              <a:endPara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11"/>
            </p:custDataLst>
          </p:nvPr>
        </p:nvGrpSpPr>
        <p:grpSpPr>
          <a:xfrm>
            <a:off x="3203848" y="2187648"/>
            <a:ext cx="4860000" cy="792000"/>
            <a:chOff x="3118250" y="2703682"/>
            <a:chExt cx="4860000" cy="792000"/>
          </a:xfrm>
        </p:grpSpPr>
        <p:sp>
          <p:nvSpPr>
            <p:cNvPr id="35" name="圆角矩形 34"/>
            <p:cNvSpPr/>
            <p:nvPr>
              <p:custDataLst>
                <p:tags r:id="rId12"/>
              </p:custDataLst>
            </p:nvPr>
          </p:nvSpPr>
          <p:spPr>
            <a:xfrm>
              <a:off x="3118250" y="2703682"/>
              <a:ext cx="4860000" cy="792000"/>
            </a:xfrm>
            <a:prstGeom prst="roundRect">
              <a:avLst>
                <a:gd name="adj" fmla="val 50000"/>
              </a:avLst>
            </a:prstGeom>
            <a:blipFill>
              <a:blip r:embed="rId5" cstate="screen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6" name="TextBox 16"/>
            <p:cNvSpPr txBox="1"/>
            <p:nvPr>
              <p:custDataLst>
                <p:tags r:id="rId13"/>
              </p:custDataLst>
            </p:nvPr>
          </p:nvSpPr>
          <p:spPr>
            <a:xfrm>
              <a:off x="3580339" y="2807295"/>
              <a:ext cx="140652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3 I2C</a:t>
              </a:r>
              <a:endPara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" name="组合 1"/>
          <p:cNvGrpSpPr/>
          <p:nvPr>
            <p:custDataLst>
              <p:tags r:id="rId14"/>
            </p:custDataLst>
          </p:nvPr>
        </p:nvGrpSpPr>
        <p:grpSpPr>
          <a:xfrm>
            <a:off x="3203848" y="3219734"/>
            <a:ext cx="4949190" cy="792000"/>
            <a:chOff x="3118250" y="3848999"/>
            <a:chExt cx="4949190" cy="792000"/>
          </a:xfrm>
        </p:grpSpPr>
        <p:sp>
          <p:nvSpPr>
            <p:cNvPr id="37" name="圆角矩形 36"/>
            <p:cNvSpPr/>
            <p:nvPr>
              <p:custDataLst>
                <p:tags r:id="rId15"/>
              </p:custDataLst>
            </p:nvPr>
          </p:nvSpPr>
          <p:spPr>
            <a:xfrm>
              <a:off x="3118250" y="3848999"/>
              <a:ext cx="4860000" cy="792000"/>
            </a:xfrm>
            <a:prstGeom prst="roundRect">
              <a:avLst>
                <a:gd name="adj" fmla="val 50000"/>
              </a:avLst>
            </a:prstGeom>
            <a:blipFill>
              <a:blip r:embed="rId9" cstate="screen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38" name="TextBox 16"/>
            <p:cNvSpPr txBox="1"/>
            <p:nvPr>
              <p:custDataLst>
                <p:tags r:id="rId16"/>
              </p:custDataLst>
            </p:nvPr>
          </p:nvSpPr>
          <p:spPr>
            <a:xfrm>
              <a:off x="3580530" y="3952504"/>
              <a:ext cx="4486910" cy="5835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 Bluetooth</a:t>
              </a:r>
              <a:endParaRPr lang="en-US" altLang="zh-CN" sz="3200" b="1" spc="300" dirty="0" smtClean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7"/>
            </p:custDataLst>
          </p:nvPr>
        </p:nvGrpSpPr>
        <p:grpSpPr>
          <a:xfrm>
            <a:off x="3203848" y="4228022"/>
            <a:ext cx="4860000" cy="792000"/>
            <a:chOff x="3118250" y="461875"/>
            <a:chExt cx="4860000" cy="792000"/>
          </a:xfrm>
        </p:grpSpPr>
        <p:sp>
          <p:nvSpPr>
            <p:cNvPr id="22" name="圆角矩形 21"/>
            <p:cNvSpPr/>
            <p:nvPr>
              <p:custDataLst>
                <p:tags r:id="rId18"/>
              </p:custDataLst>
            </p:nvPr>
          </p:nvSpPr>
          <p:spPr>
            <a:xfrm>
              <a:off x="3118250" y="461875"/>
              <a:ext cx="4860000" cy="792000"/>
            </a:xfrm>
            <a:prstGeom prst="roundRect">
              <a:avLst>
                <a:gd name="adj" fmla="val 50000"/>
              </a:avLst>
            </a:prstGeom>
            <a:blipFill>
              <a:blip r:embed="rId5" cstate="screen"/>
              <a:stretch>
                <a:fillRect/>
              </a:stretch>
            </a:blip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1219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华康俪金黑W8(P)" panose="020B0800000000000000" pitchFamily="34" charset="-122"/>
                <a:ea typeface="华康俪金黑W8(P)" panose="020B0800000000000000" pitchFamily="34" charset="-122"/>
              </a:endParaRPr>
            </a:p>
          </p:txBody>
        </p:sp>
        <p:sp>
          <p:nvSpPr>
            <p:cNvPr id="23" name="TextBox 16"/>
            <p:cNvSpPr txBox="1"/>
            <p:nvPr>
              <p:custDataLst>
                <p:tags r:id="rId19"/>
              </p:custDataLst>
            </p:nvPr>
          </p:nvSpPr>
          <p:spPr>
            <a:xfrm>
              <a:off x="3580339" y="565488"/>
              <a:ext cx="256476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 APP IOT</a:t>
              </a:r>
              <a:endParaRPr lang="zh-CN" altLang="en-US" sz="3200" b="1" spc="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987824" y="123566"/>
            <a:ext cx="2054774" cy="792000"/>
            <a:chOff x="2987824" y="123566"/>
            <a:chExt cx="2054774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115448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rgbClr val="941F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Uno</a:t>
              </a:r>
              <a:endParaRPr lang="zh-CN" altLang="en-US" sz="3200" spc="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01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93" t="2093" r="11222" b="45159"/>
          <a:stretch>
            <a:fillRect/>
          </a:stretch>
        </p:blipFill>
        <p:spPr>
          <a:xfrm>
            <a:off x="1618615" y="942975"/>
            <a:ext cx="5833745" cy="414528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882230" y="123566"/>
            <a:ext cx="2485886" cy="792000"/>
            <a:chOff x="2987824" y="123566"/>
            <a:chExt cx="2485886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158559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Sensor</a:t>
              </a:r>
              <a:endParaRPr lang="en-US" altLang="zh-CN" sz="3200" b="1" spc="3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44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02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035" y="562610"/>
            <a:ext cx="2054860" cy="3467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0565" y="1489710"/>
            <a:ext cx="4107180" cy="36195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5645" y="270510"/>
            <a:ext cx="3350895" cy="27622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955" y="80010"/>
            <a:ext cx="9177655" cy="499173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6019423" y="195321"/>
            <a:ext cx="1867222" cy="792000"/>
            <a:chOff x="2987824" y="123566"/>
            <a:chExt cx="1867222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96693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 smtClean="0">
                  <a:solidFill>
                    <a:srgbClr val="941F23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I2C</a:t>
              </a:r>
              <a:endParaRPr lang="zh-CN" altLang="en-US" sz="3200" spc="3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03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987824" y="123566"/>
            <a:ext cx="3456166" cy="792000"/>
            <a:chOff x="2987824" y="123566"/>
            <a:chExt cx="3456166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2555875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lvl="1" indent="-514350" algn="l"/>
              <a:r>
                <a:rPr lang="en-US" altLang="zh-CN" sz="3200" b="1" spc="300" dirty="0" smtClean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Bluetooth</a:t>
              </a:r>
              <a:endParaRPr lang="en-US" altLang="zh-CN" sz="3200" b="1" spc="3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04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560" y="987425"/>
            <a:ext cx="9051925" cy="40506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987824" y="123566"/>
            <a:ext cx="1987411" cy="792000"/>
            <a:chOff x="2987824" y="123566"/>
            <a:chExt cx="1987411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108712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/>
              <a:r>
                <a:rPr lang="en-US" altLang="zh-CN" sz="3200" b="1" spc="300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APP</a:t>
              </a:r>
              <a:endParaRPr lang="en-US" altLang="zh-CN" sz="3200" b="1" spc="3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05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pic>
        <p:nvPicPr>
          <p:cNvPr id="2" name="图片 1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250825" y="915035"/>
            <a:ext cx="3935095" cy="418719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4464685" y="810895"/>
            <a:ext cx="4382135" cy="42640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/>
        </p:nvGrpSpPr>
        <p:grpSpPr>
          <a:xfrm>
            <a:off x="2987824" y="195321"/>
            <a:ext cx="3450451" cy="792000"/>
            <a:chOff x="2987824" y="123566"/>
            <a:chExt cx="3450451" cy="792000"/>
          </a:xfrm>
        </p:grpSpPr>
        <p:sp>
          <p:nvSpPr>
            <p:cNvPr id="4" name="TextBox 16"/>
            <p:cNvSpPr txBox="1"/>
            <p:nvPr/>
          </p:nvSpPr>
          <p:spPr>
            <a:xfrm>
              <a:off x="3888115" y="227179"/>
              <a:ext cx="2550160" cy="5835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514350" lvl="1" indent="-514350" algn="l"/>
              <a:r>
                <a:rPr lang="zh-CN" altLang="en-US" sz="3200" b="1" spc="300" dirty="0">
                  <a:solidFill>
                    <a:srgbClr val="00206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Assessment</a:t>
              </a:r>
              <a:endParaRPr lang="zh-CN" altLang="en-US" sz="3200" b="1" spc="300" dirty="0">
                <a:solidFill>
                  <a:srgbClr val="00206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987824" y="123566"/>
              <a:ext cx="792000" cy="792000"/>
              <a:chOff x="3203848" y="123566"/>
              <a:chExt cx="792000" cy="792000"/>
            </a:xfrm>
          </p:grpSpPr>
          <p:sp>
            <p:nvSpPr>
              <p:cNvPr id="11" name="椭圆 10"/>
              <p:cNvSpPr/>
              <p:nvPr/>
            </p:nvSpPr>
            <p:spPr>
              <a:xfrm>
                <a:off x="3203848" y="123566"/>
                <a:ext cx="792000" cy="792000"/>
              </a:xfrm>
              <a:prstGeom prst="ellipse">
                <a:avLst/>
              </a:prstGeom>
              <a:solidFill>
                <a:srgbClr val="941F2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12" name="TextBox 11"/>
              <p:cNvSpPr txBox="1"/>
              <p:nvPr/>
            </p:nvSpPr>
            <p:spPr>
              <a:xfrm>
                <a:off x="3347864" y="267582"/>
                <a:ext cx="504056" cy="49212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r>
                  <a:rPr lang="en-US" altLang="zh-CN" sz="3200" b="1" dirty="0" smtClean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06</a:t>
                </a:r>
                <a:endParaRPr lang="zh-CN" altLang="en-US" sz="32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</p:grpSp>
      <p:sp>
        <p:nvSpPr>
          <p:cNvPr id="10" name="矩形 9"/>
          <p:cNvSpPr/>
          <p:nvPr>
            <p:custDataLst>
              <p:tags r:id="rId1"/>
            </p:custDataLst>
          </p:nvPr>
        </p:nvSpPr>
        <p:spPr>
          <a:xfrm>
            <a:off x="287020" y="1130935"/>
            <a:ext cx="8646795" cy="3415030"/>
          </a:xfrm>
          <a:prstGeom prst="rect">
            <a:avLst/>
          </a:prstGeom>
        </p:spPr>
        <p:txBody>
          <a:bodyPr wrap="square">
            <a:spAutoFit/>
          </a:bodyPr>
          <a:p>
            <a:pPr algn="l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70</a:t>
            </a:r>
            <a:r>
              <a:rPr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%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:</a:t>
            </a:r>
            <a:r>
              <a:rPr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 1-6 classroom inspection items</a:t>
            </a:r>
            <a:endParaRPr sz="3600" b="1" dirty="0" smtClean="0">
              <a:solidFill>
                <a:srgbClr val="FF0000"/>
              </a:solidFill>
              <a:latin typeface="Times New Roman" panose="02020603050405020304" pitchFamily="18" charset="0"/>
              <a:ea typeface="方正粗黑宋简体" panose="02000000000000000000" pitchFamily="2" charset="-122"/>
              <a:cs typeface="Times New Roman" panose="02020603050405020304" pitchFamily="18" charset="0"/>
            </a:endParaRPr>
          </a:p>
          <a:p>
            <a:pPr algn="l"/>
            <a:r>
              <a:rPr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Step by step from the I/O ports of the controller to the use of various types of sensors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. </a:t>
            </a:r>
            <a:r>
              <a:rPr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Students can earn scores by completing code writing and debugging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.</a:t>
            </a:r>
            <a:endParaRPr lang="en-US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方正粗黑宋简体" panose="02000000000000000000" pitchFamily="2" charset="-122"/>
              <a:cs typeface="Times New Roman" panose="02020603050405020304" pitchFamily="18" charset="0"/>
            </a:endParaRPr>
          </a:p>
          <a:p>
            <a:pPr algn="l"/>
            <a:endParaRPr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方正粗黑宋简体" panose="02000000000000000000" pitchFamily="2" charset="-122"/>
              <a:cs typeface="Times New Roman" panose="02020603050405020304" pitchFamily="18" charset="0"/>
            </a:endParaRPr>
          </a:p>
          <a:p>
            <a:pPr algn="l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3</a:t>
            </a:r>
            <a:r>
              <a:rPr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0%</a:t>
            </a: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:</a:t>
            </a:r>
            <a:r>
              <a:rPr sz="36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 7-8</a:t>
            </a:r>
            <a:endParaRPr sz="3600" b="1" dirty="0" smtClean="0">
              <a:solidFill>
                <a:srgbClr val="FF0000"/>
              </a:solidFill>
              <a:latin typeface="Times New Roman" panose="02020603050405020304" pitchFamily="18" charset="0"/>
              <a:ea typeface="方正粗黑宋简体" panose="02000000000000000000" pitchFamily="2" charset="-122"/>
              <a:cs typeface="Times New Roman" panose="02020603050405020304" pitchFamily="18" charset="0"/>
            </a:endParaRPr>
          </a:p>
          <a:p>
            <a:pPr algn="l"/>
            <a:r>
              <a:rPr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Hardware device issuance,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 s</a:t>
            </a:r>
            <a:r>
              <a:rPr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tudents are able to freely utilize the design of the </a:t>
            </a:r>
            <a:r>
              <a:rPr lang="en-US" sz="24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方正粗黑宋简体" panose="02000000000000000000" pitchFamily="2" charset="-122"/>
                <a:cs typeface="Times New Roman" panose="02020603050405020304" pitchFamily="18" charset="0"/>
              </a:rPr>
              <a:t>IOT.</a:t>
            </a:r>
            <a:endParaRPr lang="en-US" sz="2400" b="1" dirty="0" smtClean="0">
              <a:solidFill>
                <a:srgbClr val="002060"/>
              </a:solidFill>
              <a:latin typeface="Times New Roman" panose="02020603050405020304" pitchFamily="18" charset="0"/>
              <a:ea typeface="方正粗黑宋简体" panose="02000000000000000000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2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3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4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5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6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7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8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9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0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1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2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3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4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5.xml><?xml version="1.0" encoding="utf-8"?>
<p:tagLst xmlns:p="http://schemas.openxmlformats.org/presentationml/2006/main">
  <p:tag name="KSO_WM_DIAGRAM_VIRTUALLY_FRAME" val="{&quot;height&quot;:385.5546456692913,&quot;left&quot;:252.27149606299213,&quot;top&quot;:9.72267716535433,&quot;width&quot;:389.69999999999993}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ISPRING_RESOURCE_PATHS_HASH_2" val="9bf32b21c57e606988ab10ec694d2e32676a8b"/>
  <p:tag name="ISPRING_PRESENTATION_TITLE" val="PowerPoint 演示文稿"/>
  <p:tag name="KSO_WPP_MARK_KEY" val="c01511aa-a907-43bb-bfca-a4e9b7026fa5"/>
  <p:tag name="COMMONDATA" val="eyJoZGlkIjoiZDZkMDc4NGNkNDJiYjJiMGRjMWU2ZjdhYjcxMWQyZDAifQ=="/>
  <p:tag name="commondata" val="eyJoZGlkIjoiMDMwZTE1MDZkODRjMzg5ZTlkNzYyZmQyY2Y5ZGIzYTg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427</Words>
  <Application>WPS 演示</Application>
  <PresentationFormat>全屏显示(16:9)</PresentationFormat>
  <Paragraphs>47</Paragraphs>
  <Slides>8</Slides>
  <Notes>50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微软雅黑 Light</vt:lpstr>
      <vt:lpstr>幼圆</vt:lpstr>
      <vt:lpstr>Times New Roman</vt:lpstr>
      <vt:lpstr>华文行楷</vt:lpstr>
      <vt:lpstr>华康俪金黑W8(P)</vt:lpstr>
      <vt:lpstr>黑体</vt:lpstr>
      <vt:lpstr>方正粗黑宋简体</vt:lpstr>
      <vt:lpstr>Arial Unicode MS</vt:lpstr>
      <vt:lpstr>等线 Light</vt:lpstr>
      <vt:lpstr>等线</vt:lpstr>
      <vt:lpstr>Calibri</vt:lpstr>
      <vt:lpstr>PMingLiU</vt:lpstr>
      <vt:lpstr>Segoe Print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kingpub</dc:creator>
  <cp:lastModifiedBy>老秀才刘Chuck</cp:lastModifiedBy>
  <cp:revision>1673</cp:revision>
  <dcterms:created xsi:type="dcterms:W3CDTF">2015-04-24T01:01:00Z</dcterms:created>
  <dcterms:modified xsi:type="dcterms:W3CDTF">2024-05-16T12:36:08Z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AAB582957CFF4BA48BBDC7484A6A9140_13</vt:lpwstr>
  </property>
  <property fmtid="{D5CDD505-2E9C-101B-9397-08002B2CF9AE}" pid="3" name="KSOProductBuildVer">
    <vt:lpwstr>2052-12.1.0.16729</vt:lpwstr>
  </property>
</Properties>
</file>